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Clinical Outputs (mean R² = 0.980)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Clinical 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Ees</c:v>
                  </c:pt>
                  <c:pt idx="1">
                    <c:v>Eed</c:v>
                  </c:pt>
                  <c:pt idx="2">
                    <c:v>Ea</c:v>
                  </c:pt>
                  <c:pt idx="3">
                    <c:v>Coupling</c:v>
                  </c:pt>
                  <c:pt idx="4">
                    <c:v>EDP</c:v>
                  </c:pt>
                  <c:pt idx="5">
                    <c:v>Efficiency</c:v>
                  </c:pt>
                  <c:pt idx="6">
                    <c:v>Tau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0.9844</c:v>
                </c:pt>
                <c:pt idx="1">
                  <c:v>0.9912</c:v>
                </c:pt>
                <c:pt idx="2">
                  <c:v>0.978</c:v>
                </c:pt>
                <c:pt idx="3">
                  <c:v>0.9817</c:v>
                </c:pt>
                <c:pt idx="4">
                  <c:v>0.9568</c:v>
                </c:pt>
                <c:pt idx="5">
                  <c:v>0.9817</c:v>
                </c:pt>
                <c:pt idx="6">
                  <c:v>0.9831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Energy Outputs (mean R² = 0.974)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R²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</c:v>
                  </c:pt>
                  <c:pt idx="1">
                    <c:v>T</c:v>
                  </c:pt>
                  <c:pt idx="2">
                    <c:v>V</c:v>
                  </c:pt>
                  <c:pt idx="3">
                    <c:v>Mech_eff</c:v>
                  </c:pt>
                  <c:pt idx="4">
                    <c:v>VA_coup</c:v>
                  </c:pt>
                  <c:pt idx="5">
                    <c:v>SW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0.9869</c:v>
                </c:pt>
                <c:pt idx="1">
                  <c:v>0.9751</c:v>
                </c:pt>
                <c:pt idx="2">
                  <c:v>0.987</c:v>
                </c:pt>
                <c:pt idx="3">
                  <c:v>0.9349</c:v>
                </c:pt>
                <c:pt idx="4">
                  <c:v>0.98</c:v>
                </c:pt>
                <c:pt idx="5">
                  <c:v>0.9786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Ees</c:v>
                  </c:pt>
                  <c:pt idx="1">
                    <c:v>Eed</c:v>
                  </c:pt>
                  <c:pt idx="2">
                    <c:v>Ea</c:v>
                  </c:pt>
                  <c:pt idx="3">
                    <c:v>Coupling</c:v>
                  </c:pt>
                  <c:pt idx="4">
                    <c:v>EDP</c:v>
                  </c:pt>
                  <c:pt idx="5">
                    <c:v>Eff</c:v>
                  </c:pt>
                  <c:pt idx="6">
                    <c:v>Tau</c:v>
                  </c:pt>
                  <c:pt idx="7">
                    <c:v>H</c:v>
                  </c:pt>
                  <c:pt idx="8">
                    <c:v>T</c:v>
                  </c:pt>
                  <c:pt idx="9">
                    <c:v>V</c:v>
                  </c:pt>
                  <c:pt idx="10">
                    <c:v>Mech</c:v>
                  </c:pt>
                  <c:pt idx="11">
                    <c:v>VA</c:v>
                  </c:pt>
                  <c:pt idx="12">
                    <c:v>SW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0.984</c:v>
                </c:pt>
                <c:pt idx="1">
                  <c:v>0.991</c:v>
                </c:pt>
                <c:pt idx="2">
                  <c:v>0.978</c:v>
                </c:pt>
                <c:pt idx="3">
                  <c:v>0.982</c:v>
                </c:pt>
                <c:pt idx="4">
                  <c:v>0.957</c:v>
                </c:pt>
                <c:pt idx="5">
                  <c:v>0.982</c:v>
                </c:pt>
                <c:pt idx="6">
                  <c:v>0.983</c:v>
                </c:pt>
                <c:pt idx="7">
                  <c:v>0.987</c:v>
                </c:pt>
                <c:pt idx="8">
                  <c:v>0.975</c:v>
                </c:pt>
                <c:pt idx="9">
                  <c:v>0.987</c:v>
                </c:pt>
                <c:pt idx="10">
                  <c:v>0.935</c:v>
                </c:pt>
                <c:pt idx="11">
                  <c:v>0.98</c:v>
                </c:pt>
                <c:pt idx="12">
                  <c:v>0.979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Temporal Split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Ees</c:v>
                  </c:pt>
                  <c:pt idx="1">
                    <c:v>Eed</c:v>
                  </c:pt>
                  <c:pt idx="2">
                    <c:v>Ea</c:v>
                  </c:pt>
                  <c:pt idx="3">
                    <c:v>Coupling</c:v>
                  </c:pt>
                  <c:pt idx="4">
                    <c:v>EDP</c:v>
                  </c:pt>
                  <c:pt idx="5">
                    <c:v>Eff</c:v>
                  </c:pt>
                  <c:pt idx="6">
                    <c:v>Tau</c:v>
                  </c:pt>
                  <c:pt idx="7">
                    <c:v>H</c:v>
                  </c:pt>
                  <c:pt idx="8">
                    <c:v>T</c:v>
                  </c:pt>
                  <c:pt idx="9">
                    <c:v>V</c:v>
                  </c:pt>
                  <c:pt idx="10">
                    <c:v>Mech</c:v>
                  </c:pt>
                  <c:pt idx="11">
                    <c:v>VA</c:v>
                  </c:pt>
                  <c:pt idx="12">
                    <c:v>SW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0.973</c:v>
                </c:pt>
                <c:pt idx="1">
                  <c:v>0.984</c:v>
                </c:pt>
                <c:pt idx="2">
                  <c:v>0.975</c:v>
                </c:pt>
                <c:pt idx="3">
                  <c:v>0.941</c:v>
                </c:pt>
                <c:pt idx="4">
                  <c:v>0.928</c:v>
                </c:pt>
                <c:pt idx="5">
                  <c:v>0.979</c:v>
                </c:pt>
                <c:pt idx="6">
                  <c:v>0.979</c:v>
                </c:pt>
                <c:pt idx="7">
                  <c:v>0.977</c:v>
                </c:pt>
                <c:pt idx="8">
                  <c:v>0.96</c:v>
                </c:pt>
                <c:pt idx="9">
                  <c:v>0.977</c:v>
                </c:pt>
                <c:pt idx="10">
                  <c:v>0.881</c:v>
                </c:pt>
                <c:pt idx="11">
                  <c:v>0.959</c:v>
                </c:pt>
                <c:pt idx="12">
                  <c:v>0.959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Port-Hamiltonian PINN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Digital Twin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Design, Process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Kwanhyeong Lee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Soonchunhyang University College of Medicine, M1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Meeting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hemodynamic assessment (PV loop) is gold standard but requires catheterization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Non-invasive alternatives (echo) provide incomplete picture of cardiac energetics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method jointly predicts hemodynamic parameters AND energy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Neural Network (PINN) as cardiac digital twin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Port-Hamiltonian mechanics for energy-consistent predictions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MIMIC-IV: 5,851 paired echocardiograms with drug exposure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MIMIC-IV Paired Echocardiography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9202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Echo Studies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19202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33,006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Echos (v2)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19202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+ Output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005840"/>
            <a:ext cx="19202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Classes Matched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155448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918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Echocardiography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103120" y="3291840"/>
            <a:ext cx="155448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32918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v4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840480" y="3291840"/>
            <a:ext cx="155448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2918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77840" y="3291840"/>
            <a:ext cx="155448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32918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15200" y="3291840"/>
            <a:ext cx="155448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32918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pH-PINN v5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Architecture: 3-Paper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Cardiac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echo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 hemodynamic outputs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0.945–0.997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Response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PSM + IPTW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Drug-specific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Port-Hamiltonian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(pH-PINN)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Energy-consistent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 +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 network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IEEE JBHI (Journal of Biomedical and Health Informatics)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pH-PINN v5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82880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StateEncoder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→ 256 → 128 → 64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GELU + Dropout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097280"/>
            <a:ext cx="1828800" cy="201168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(V_LV, V_LA, V_art)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(p_mv, p_ao)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(4 dims)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2011680" cy="2011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T(q,p): MLP[5,64,64,1]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V(q): MLP[3,64,64,1]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 + 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2011680" cy="201168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Dissipation 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1645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LLᵀ (Cholesky)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PSD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 symmetric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Decoder (12→64→32→7)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Ees, Eed, Ea, coupling, EDP, efficiency, tau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39319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Decoder (12→64→32→6)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H, T, V, mech_eff, VA_coupling, SW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Parameters: 61,169  |  Training: AdamW, CosineAnnealing, 150 epochs, 23s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Results: Test Set R²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1440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mean R² = 0.977  |  All outputs &gt; 0.93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Structure Guarantees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 + 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= 3.37×10⁻¹⁵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Machine-precision energy conservation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73152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≥ 0 (PSD)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violations / 200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Dissipation matrix positive semi-definite via Cholesky LLᵀ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≥ 0, V ≥ 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Softplus enforced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Non-negative kinetic and potential energy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Validation (Prospective Proxy)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pre-median dates, test on post-median dates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2,488 samples  |  Test: 2,925 samples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737360"/>
          <a:ext cx="8595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R² degradation: -0.018  |  All outputs maintain R² &gt; 0.88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= Δ(A+B) − [Δ(A) + Δ(B) − Δ(neither)]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Non-additive energy effects quantified across 21 testable drug pairs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1280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Pairs Tested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1920240" cy="1280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1920240" cy="1280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1920240" cy="1280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synergy: ARB + BB (ΔH interaction = −5,059 J, 280% supra-additive)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= most synergistic hub (5/6 connections synergistic)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= most antagonistic hub (5/6 connections antagonistic)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consistent with guideline-directed HF therapy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Port-Hamiltonian PINN for cardiac modeling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Energy-consistent architecture with provable conservation laws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Machine-precision energy conservation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 + V enforced at MSE = 3.37×10⁻¹⁵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Prospective-proxy validation passed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 maintains R² &gt; 0.88 across all 13 outputs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 network from digital twin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pairs classified as synergistic/antagonistic/additive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pH-PINN Cardiac Digital Twin: Research Design &amp; Results</dc:title>
  <dc:subject>PptxGenJS Presentation</dc:subject>
  <dc:creator>Kwanhyeong Lee</dc:creator>
  <cp:lastModifiedBy>Kwanhyeong Lee</cp:lastModifiedBy>
  <cp:revision>1</cp:revision>
  <dcterms:created xsi:type="dcterms:W3CDTF">2026-06-12T17:35:17Z</dcterms:created>
  <dcterms:modified xsi:type="dcterms:W3CDTF">2026-06-12T17:35:17Z</dcterms:modified>
</cp:coreProperties>
</file>