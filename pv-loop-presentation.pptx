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B3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심실 압력-용적(PV) 곡선과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Frank-Starling 기전의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가상 혈역학 시뮬레이션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Hemodynamic Simulation of Ventricular PV Loops &amp; Frank-Starling Mechanism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3246120"/>
            <a:ext cx="2743200" cy="27432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순천향대학교 의과대학  |  심장 및 순환생리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4월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206240"/>
            <a:ext cx="7680960" cy="36576"/>
          </a:xfrm>
          <a:prstGeom prst="rect">
            <a:avLst/>
          </a:prstGeom>
          <a:solidFill>
            <a:srgbClr val="4A7BFF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인터랙티브 시뮬레이터로 전부하 · 후부하 · 수축력 변화에 따른 PV 루프 변화를 실시간 체험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27432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Clinical Background &amp; Unmet Need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역학, 진단 방법, 교육적 필요성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역학 (Epidemiology)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심혈관 질환: 전 세계 사망원인 1위 (WHO, 2023)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심부전(HF): 전 세계 약 6,400만 명 이환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65세 이상 심부전 유병률 약 12%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급성 심부전 입원 사망률 약 5-10%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표준 진단 방법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4173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침습적: Conductance catheter PV 루프 (Gold Standard)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비침습적: Echo(EF), Cardiac MRI, MUGA scan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비용↑, 합병증↑, 교육현장 적용 불가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8412480" cy="182880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1752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교육적 Unmet Need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4747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학생들은 정적 교과서 그래프만으로 전부하/후부하/수축력 변화가 PV 루프에 미치는 영향을 이해하기 어려움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환자에서 파라미터를 변경하며 관찰하는 것은 윤리적·물리적으로 불가능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시뮬레이터(Harvi, CircAdapt)는 영어 전용, 접근성 낮음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인터랙티브 시뮬레이션으로 PV 루프 변화를 실시간 관찰할 수 있는 도구 필요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27432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생리학적 기전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심주기 4국면 · Frank-Starling · ESPVR/EDPVR · SV 결정 3대 요소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965960" cy="141732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54864" cy="14173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60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I. 충만기 [A→B]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234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승모판 개방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ESV→EDV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 ≈ 5-7 mmHg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914400"/>
            <a:ext cx="1965960" cy="141732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914400"/>
            <a:ext cx="54864" cy="1417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960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II. 등용적수축 [B→C]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234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판막 닫힘 (S1)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용적 불변, 압력↑↑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1965960" cy="141732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914400"/>
            <a:ext cx="54864" cy="1417320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960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III. 박출기 [C→D]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234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대동맥판 개방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EDV→ESV 박출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mmHg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914400"/>
            <a:ext cx="1965960" cy="141732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914400"/>
            <a:ext cx="54864" cy="1417320"/>
          </a:xfrm>
          <a:prstGeom prst="rect">
            <a:avLst/>
          </a:prstGeom>
          <a:solidFill>
            <a:srgbClr val="FFA94D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960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9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IV. 등용적이완 [D→A]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1234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대동맥판 닫힘 (S2)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용적 불변, 압력↓↓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514600"/>
            <a:ext cx="4023360" cy="23774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514600"/>
            <a:ext cx="54864" cy="23774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587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Frank-Starling 법칙 &amp; SV 결정 3대 요소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288036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EDV↑ → Sarcomere 신장 → TnC Ca²⁺ 감수성↑ → SV↑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전부하(Preload): EDV↑ → F-S → SV↑ (루프 우측이동)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후부하(Afterload): AoP↑ → ESV↑ → SV↓ (루프 좁고 높음)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수축력(Contractility): Ees↑ → ESV↓ → SV↑ (루프 넓어짐)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4A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 = HR × SV  |  SV = EDV − ESV  |  EF = SV/EDV × 100%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514600"/>
            <a:ext cx="4023360" cy="23774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514600"/>
            <a:ext cx="54864" cy="2377440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587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ESPVR &amp; EDPVR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288036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ESPVR: P = Ees × (V − V₀)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Ees = 수축력 지표 (부하 독립적)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Ees↑ → ESPVR 기울기↑ → ESV↓ → SV↑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A9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EDPVR: P = A·(e^(B·(V−V₀)) − 1)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심실 Compliance 반영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곡선 가파름 → stiff ventricle (HFpEF)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 너비 = SV  |  루프 면적 = Stroke Work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27432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시뮬레이션 모델 구조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Model → Output  |  Time-Varying Elastance (Suga &amp; Sagawa, 1974)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2651760" cy="347472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54864" cy="3474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097280"/>
            <a:ext cx="1097280" cy="2926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0972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조절 파라미터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EDV (전부하): 60-220 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 (후부하): 40-220 mmHg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Ees (수축력): 0.5-6.0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(심박수): 40-180 bpm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B_edp (EDPVR 강성): 0.015-0.06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7180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651760" cy="347472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05840"/>
            <a:ext cx="54864" cy="3474720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1097280"/>
            <a:ext cx="1097280" cy="292608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0972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수리 생리학 모델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P(t) = E(t) × [V(t) − V₀]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ESPVR: P = Ees·(V−V₀)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EDPVR: P = A·(e^(B·(V−V₀))−1)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ESV = V₀ + AoP / Ees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= EDV − ESV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Work = Loop Area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9788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172200" y="1005840"/>
            <a:ext cx="2651760" cy="347472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005840"/>
            <a:ext cx="54864" cy="3474720"/>
          </a:xfrm>
          <a:prstGeom prst="rect">
            <a:avLst/>
          </a:prstGeom>
          <a:solidFill>
            <a:srgbClr val="FFA94D"/>
          </a:solidFill>
          <a:ln/>
        </p:spPr>
      </p:sp>
      <p:sp>
        <p:nvSpPr>
          <p:cNvPr id="23" name="Shape 21"/>
          <p:cNvSpPr/>
          <p:nvPr/>
        </p:nvSpPr>
        <p:spPr>
          <a:xfrm>
            <a:off x="6355080" y="1097280"/>
            <a:ext cx="1097280" cy="292608"/>
          </a:xfrm>
          <a:prstGeom prst="rect">
            <a:avLst/>
          </a:prstGeom>
          <a:solidFill>
            <a:srgbClr val="FFA94D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0972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결과물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루프 (4국면 색상 구분)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Frank-Starling 곡선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Wiggers 다이어그램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심장-혈관 기능 곡선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혈역학 수치 패널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병태생리 프리셋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정상값 비교 오버레이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심주기 애니메이션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Suga H, Sagawa K. Circ Res 1974;35:117-126  |  Burkhoff D et al. Am J Physiol 2005;289:H501-H512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27432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모델 파라미터 근거 &amp; 검증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생리학 교과서 기반 파라미터 설정 및 검증 방법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46634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13716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파라미터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B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EDV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이완기말 용적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B8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Guyton Ch.9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수축기말 용적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B8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Guyton Ch.9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mmHg/mL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수축기말 탄성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B8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Burkhoff 2005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V₀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volume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B8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Suga 1974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A9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A_edp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0.337 mmHg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EDPVR 스케일 상수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B8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A9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B_edp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EDPVR 강성 계수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B8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03520" y="960120"/>
            <a:ext cx="3474720" cy="393192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0" y="960120"/>
            <a:ext cx="54864" cy="3931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0" y="1051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검증 방법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0" y="141732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생리적 범위 적합성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SV 60-80mL, EF 55-70%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수축기압 ~120mmHg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Frank-Starling 곡선 재현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전부하↑ → SV↑ 후 plateau 도달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병태 시나리오 충실도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HFrEF→EF&lt;40%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AS→LV압&gt;&gt;AoP 등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전문가 평가 (블라인드)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10개 시나리오 PV 루프 형태 적합성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Pre-Post Test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시뮬레이션 전후 퀴즈 점수 비교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27432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성능 결과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생리적 충실도, PV 루프 형태 비교, 교육 효과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1965960" cy="10058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8755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 |  SV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960120"/>
            <a:ext cx="1965960" cy="10058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98755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58.3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1460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 |  EF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1965960" cy="10058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98755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L/min  |  CO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960120"/>
            <a:ext cx="1965960" cy="10058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98755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9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1228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mmHg  |  EDP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148840"/>
            <a:ext cx="8412480" cy="274320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148840"/>
            <a:ext cx="54864" cy="2743200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240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PV 루프 형태 비교 (시뮬레이션 vs 교과서)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06040"/>
          <a:ext cx="79552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976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루프 변화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교과서 일치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전부하↑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루프 우측 이동, ESV 불변, SV↑, 면적↑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강의록 p.25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후부하↑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루프 상단 위로, ESV↑, SV↓ (좁고 높아짐)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강의록 p.25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7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수축력↑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ESPVR 기울기↑, ESV↓, 루프 넓어짐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강의록 p.29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HFrEF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Ees↓ → ESV↑↑, SV↓, EF&lt;40%, 루프 우측 이동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Guyton Ch.22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A9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루프 극도로 높아짐, LV압 &gt;&gt; 대동맥압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강의록 p.25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27432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임상 적용 및 교육 도구 비교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루프의 임상 활용, 약물 효과, 교육용 시뮬레이터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210312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54864" cy="21031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PV 루프의 임상 적용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침습적: Conductance catheter (Gold Standard)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심부전 수축/이완 기능 정밀 평가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비침습적: Echo + AI → PV 루프 추정 (연구 중)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아직 FDA 승인 기기 없음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023360" cy="210312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54864" cy="21031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약물과 PV 루프 변화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417320"/>
          <a:ext cx="3657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변화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Dobutamine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β₁→Ees↑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ESV↓, SV↑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Nitroprusside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Afterload↓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ESV↓, 루프↓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β-blocker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Ees↓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ESV↑, SV↓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3246120"/>
            <a:ext cx="8412480" cy="164592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324612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3337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교육용 시뮬레이터 비교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657600"/>
          <a:ext cx="79552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언어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강의록 연계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B8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CircAdapt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네덜란드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B8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 시뮬레이터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순천향대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한국어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27432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한계와 향후 전망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모델의 제한점 및 발전 방향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93192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54864" cy="3931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모델의 한계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Lumped-Parameter 모델의 단순화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3D 구조, 국소벽운동 미반영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판막질환 정량적 재현에 한계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파라미터의 한계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환자별 개별화(calibration) 미시행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심실 간 상호작용 미반영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장기적 보상 기전(심비대) 미반영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Generalizability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정상 성인 남성 기준 파라미터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소아/노인/성별 차이 미고려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023360" cy="393192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54864" cy="3931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향후 전망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41732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트윈 (Digital Twin)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Echo 데이터 → 개인화 PV 루프 예측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실시간 혈역학 모니터링 연동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모델 연동 (FEM)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국소벽운동 이상의 PV 루프 영향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VR/AR 교육 환경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몰입형 해부학 + PV 루프 시뮬레이션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연동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비침습 Echo AI → PV 루프 추정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강화학습 기반 최적 약물 용량 탐색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윤리/규제 고려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임상 확장 시 FDA/MFDS 승인 필요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27432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결론 및 References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Message &amp; 참고문헌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solidFill>
            <a:srgbClr val="15205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54864" cy="13716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Take-Home Message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3716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인터랙티브 PV 루프 시뮬레이터는 추상적인 혈역학 개념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(전부하, 후부하, 수축력, Frank-Starling 기전)을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직관적 체험으로 전환하여, 심혈관 생리 교육의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이해도와 몰입도를 높이는 효과적인 교육 도구이다.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8412480" cy="2331720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260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Guyton AC, Hall JE. Textbook of Medical Physiology. 14th ed. Ch.9, Ch.20, Ch.22.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316382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Suga H, Sagawa K. Circ Res. 1974;35:117-126.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" y="340156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Burkhoff D, Mirsky I, Suga H. Am J Physiol Heart Circ Physiol. 2005;289:H501-H512.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363931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Starling EH. The Linacre Lecture on the Law of the Heart. 1918.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387705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Patterson SW, Starling EH. J Physiol. 1914;48(5):357-379.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" y="41148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Kass DA, Maughan WL. Circulation. 1988;77(6):1203-1212.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435254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순천향대학교 의과대학 생리학교실. 심장생리 강의록. 정영현 교수.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459028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Chantler PD et al. J Appl Physiol. 2008;105:1342-1351.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8952"/>
            <a:ext cx="9144000" cy="27432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조원 별 역할 &amp; 시연 시나리오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Process &amp; Live Demo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5029200" cy="21488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54864" cy="2148840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051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진행 프로세스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417320"/>
            <a:ext cx="256032" cy="25603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417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5256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분석 &amp; 자료 조사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21992" y="1417320"/>
            <a:ext cx="256032" cy="256032"/>
          </a:xfrm>
          <a:prstGeom prst="rect">
            <a:avLst/>
          </a:prstGeom>
          <a:solidFill>
            <a:srgbClr val="4A7BFF"/>
          </a:solidFill>
          <a:ln/>
        </p:spPr>
      </p:sp>
      <p:sp>
        <p:nvSpPr>
          <p:cNvPr id="14" name="Text 12"/>
          <p:cNvSpPr/>
          <p:nvPr/>
        </p:nvSpPr>
        <p:spPr>
          <a:xfrm>
            <a:off x="2221992" y="1417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32888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모델 설계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9624" y="1417320"/>
            <a:ext cx="256032" cy="25603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3849624" y="1417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60520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 시뮬레이터 구현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2194560"/>
            <a:ext cx="256032" cy="256032"/>
          </a:xfrm>
          <a:prstGeom prst="rect">
            <a:avLst/>
          </a:prstGeom>
          <a:solidFill>
            <a:srgbClr val="FFA94D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194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병태생리 시나리오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21992" y="2194560"/>
            <a:ext cx="256032" cy="2560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2221992" y="2194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32888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교과서 대비 검증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9624" y="2194560"/>
            <a:ext cx="256032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849624" y="2194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052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발표자료 제작 &amp; 시연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77840" y="960120"/>
            <a:ext cx="3200400" cy="21488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77840" y="960120"/>
            <a:ext cx="54864" cy="2148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0" y="1051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시연 시나리오 (Live Demo)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0" y="13716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정상 PV 루프 설명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전부하 슬라이더 → F-S 효과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HFrEF → 정상 비교 오버레이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AS → 좁고 높은 루프 확인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Dobutamine → 수축력↑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8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F-S / Wiggers 탭 전환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291840"/>
            <a:ext cx="8412480" cy="155448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6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291840"/>
            <a:ext cx="54864" cy="15544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383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역할 분담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703320"/>
          <a:ext cx="7955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담당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업무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자료 조사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B8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(이름)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Guyton 교과서 + 강의록 정리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7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 설계 &amp; 구현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B8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(이름)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HTML/JS 시뮬레이터 개발 + 검증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발표 &amp; 시연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B8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(이름)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 제작 + 시연 시나리오 진행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심실 PV 곡선과 Frank-Starling 기전의 가상 혈역학 시뮬레이션</dc:title>
  <dc:subject>PptxGenJS Presentation</dc:subject>
  <dc:creator>순천향대학교 의과대학</dc:creator>
  <cp:lastModifiedBy>순천향대학교 의과대학</cp:lastModifiedBy>
  <cp:revision>1</cp:revision>
  <dcterms:created xsi:type="dcterms:W3CDTF">2026-04-21T04:33:32Z</dcterms:created>
  <dcterms:modified xsi:type="dcterms:W3CDTF">2026-04-21T04:33:32Z</dcterms:modified>
</cp:coreProperties>
</file>